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73" r:id="rId12"/>
    <p:sldId id="274" r:id="rId13"/>
    <p:sldId id="265" r:id="rId14"/>
    <p:sldId id="266" r:id="rId15"/>
    <p:sldId id="267" r:id="rId16"/>
    <p:sldId id="268" r:id="rId17"/>
    <p:sldId id="275" r:id="rId18"/>
    <p:sldId id="269" r:id="rId19"/>
    <p:sldId id="270" r:id="rId20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32" autoAdjust="0"/>
    <p:restoredTop sz="94660"/>
  </p:normalViewPr>
  <p:slideViewPr>
    <p:cSldViewPr snapToGrid="0">
      <p:cViewPr varScale="1">
        <p:scale>
          <a:sx n="94" d="100"/>
          <a:sy n="94" d="100"/>
        </p:scale>
        <p:origin x="24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0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jpe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jpeg"/><Relationship Id="rId68" Type="http://schemas.openxmlformats.org/officeDocument/2006/relationships/image" Target="../media/image67.png"/><Relationship Id="rId7" Type="http://schemas.openxmlformats.org/officeDocument/2006/relationships/image" Target="../media/image6.png"/><Relationship Id="rId71" Type="http://schemas.openxmlformats.org/officeDocument/2006/relationships/image" Target="../media/image70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9" Type="http://schemas.openxmlformats.org/officeDocument/2006/relationships/image" Target="../media/image28.jpeg"/><Relationship Id="rId11" Type="http://schemas.openxmlformats.org/officeDocument/2006/relationships/image" Target="../media/image10.jpeg"/><Relationship Id="rId24" Type="http://schemas.openxmlformats.org/officeDocument/2006/relationships/image" Target="../media/image23.png"/><Relationship Id="rId32" Type="http://schemas.openxmlformats.org/officeDocument/2006/relationships/image" Target="../media/image31.jpe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jpeg"/><Relationship Id="rId66" Type="http://schemas.openxmlformats.org/officeDocument/2006/relationships/image" Target="../media/image65.pn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jpeg"/><Relationship Id="rId30" Type="http://schemas.openxmlformats.org/officeDocument/2006/relationships/image" Target="../media/image29.png"/><Relationship Id="rId35" Type="http://schemas.openxmlformats.org/officeDocument/2006/relationships/image" Target="../media/image34.jpe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jpeg"/><Relationship Id="rId46" Type="http://schemas.openxmlformats.org/officeDocument/2006/relationships/image" Target="../media/image45.jpe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jpeg"/><Relationship Id="rId10" Type="http://schemas.openxmlformats.org/officeDocument/2006/relationships/image" Target="../media/image9.jpeg"/><Relationship Id="rId31" Type="http://schemas.openxmlformats.org/officeDocument/2006/relationships/image" Target="../media/image30.png"/><Relationship Id="rId44" Type="http://schemas.openxmlformats.org/officeDocument/2006/relationships/image" Target="../media/image43.jpeg"/><Relationship Id="rId52" Type="http://schemas.openxmlformats.org/officeDocument/2006/relationships/image" Target="../media/image51.png"/><Relationship Id="rId60" Type="http://schemas.openxmlformats.org/officeDocument/2006/relationships/image" Target="../media/image59.jpeg"/><Relationship Id="rId65" Type="http://schemas.openxmlformats.org/officeDocument/2006/relationships/image" Target="../media/image6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085880" y="3925514"/>
            <a:ext cx="14097635" cy="763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5900" kern="0" spc="-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</a:t>
            </a:r>
            <a:r>
              <a:rPr sz="5900" b="1" kern="0" spc="-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arch:From</a:t>
            </a:r>
            <a:r>
              <a:rPr sz="5900" b="1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900" b="1" kern="0" spc="-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Lexical to Se</a:t>
            </a:r>
            <a:r>
              <a:rPr sz="5900" b="1" kern="0" spc="-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mantic &amp;Hybrid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67681" y="4984739"/>
            <a:ext cx="2032000" cy="635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2323469" y="4816015"/>
            <a:ext cx="12015469" cy="721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6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30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modern</a:t>
            </a:r>
            <a:r>
              <a:rPr sz="3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u="sng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 </a:t>
            </a:r>
            <a:r>
              <a:rPr sz="3000" kern="0" spc="-5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</a:t>
            </a:r>
            <a:r>
              <a:rPr sz="3000" u="sng" kern="0" spc="-8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u="sng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stem</a:t>
            </a:r>
            <a:r>
              <a:rPr sz="3000" u="sng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  retri</a:t>
            </a:r>
            <a:r>
              <a:rPr sz="3000" kern="0" spc="-8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u="sng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eve,rank,and  r</a:t>
            </a:r>
            <a:r>
              <a:rPr sz="3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eturn</a:t>
            </a:r>
            <a:r>
              <a:rPr sz="30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relevant</a:t>
            </a:r>
            <a:r>
              <a:rPr sz="30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results.</a:t>
            </a:r>
            <a:endParaRPr sz="3000" dirty="0">
              <a:latin typeface="Arial"/>
              <a:ea typeface="Arial"/>
              <a:cs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98341" y="4972050"/>
            <a:ext cx="6350" cy="304769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53020" y="4965740"/>
            <a:ext cx="6350" cy="330189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75267" y="4978359"/>
            <a:ext cx="6350" cy="235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10219" y="3943329"/>
            <a:ext cx="996980" cy="635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15080" y="2901939"/>
            <a:ext cx="2673298" cy="42547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61040" y="3530589"/>
            <a:ext cx="5327578" cy="20958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38778" y="2901939"/>
            <a:ext cx="2508301" cy="131445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048300" y="3943329"/>
            <a:ext cx="603260" cy="635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626640" y="3943329"/>
            <a:ext cx="1174658" cy="635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632378" y="3301989"/>
            <a:ext cx="4368800" cy="73664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845100" y="5803879"/>
            <a:ext cx="6407140" cy="228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213299" y="5803879"/>
            <a:ext cx="5410322" cy="59061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061281" y="3943329"/>
            <a:ext cx="698358" cy="635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334520" y="3943329"/>
            <a:ext cx="279440" cy="635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289840" y="2901939"/>
            <a:ext cx="2089057" cy="1174729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305539" y="2698739"/>
            <a:ext cx="3028980" cy="635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311879" y="2901939"/>
            <a:ext cx="311139" cy="6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458021" y="1860529"/>
            <a:ext cx="419079" cy="2279689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499381" y="2476468"/>
            <a:ext cx="1460439" cy="39374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79560" y="4851440"/>
            <a:ext cx="14077858" cy="3803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7499381" y="4953030"/>
            <a:ext cx="1873179" cy="28575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8324860" y="4959339"/>
            <a:ext cx="838160" cy="273039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5689600" y="6432529"/>
            <a:ext cx="4533960" cy="19111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5657900" y="6229329"/>
            <a:ext cx="3740180" cy="635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013419" y="6642089"/>
            <a:ext cx="3327440" cy="635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870755" y="5340370"/>
            <a:ext cx="6350" cy="209543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7480361" y="6857979"/>
            <a:ext cx="393720" cy="635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7702576" y="5302239"/>
            <a:ext cx="6350" cy="19431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8089961" y="6851670"/>
            <a:ext cx="393720" cy="635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8121654" y="5518129"/>
            <a:ext cx="6350" cy="191137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8953475" y="5537240"/>
            <a:ext cx="6350" cy="1904969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7499376" y="5556260"/>
            <a:ext cx="6350" cy="1879549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096000" y="7270739"/>
            <a:ext cx="374700" cy="635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6458016" y="5575279"/>
            <a:ext cx="6350" cy="184791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038778" y="5556260"/>
            <a:ext cx="6502" cy="179707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324854" y="5549859"/>
            <a:ext cx="6350" cy="1689171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5835578" y="5607009"/>
            <a:ext cx="6502" cy="162562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372553" y="5587989"/>
            <a:ext cx="6350" cy="165735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8743934" y="2470160"/>
            <a:ext cx="6350" cy="1606509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8743934" y="5524530"/>
            <a:ext cx="6350" cy="1492209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7283494" y="5549859"/>
            <a:ext cx="6350" cy="14859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8534395" y="5587989"/>
            <a:ext cx="6350" cy="143515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6248476" y="5581680"/>
            <a:ext cx="6350" cy="1435059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7918454" y="5524530"/>
            <a:ext cx="6350" cy="1295338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667555" y="5543550"/>
            <a:ext cx="6350" cy="1276319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9620301" y="6235659"/>
            <a:ext cx="546038" cy="64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9994834" y="5537240"/>
            <a:ext cx="6350" cy="1276319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7499376" y="2895630"/>
            <a:ext cx="6350" cy="1136599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7080294" y="5575279"/>
            <a:ext cx="6350" cy="112398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7080294" y="2901939"/>
            <a:ext cx="6350" cy="103510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9372553" y="1644639"/>
            <a:ext cx="6350" cy="102239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8953475" y="1460479"/>
            <a:ext cx="6350" cy="990661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9163015" y="5568970"/>
            <a:ext cx="6350" cy="952438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9785294" y="5575279"/>
            <a:ext cx="6350" cy="933510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7918454" y="2901939"/>
            <a:ext cx="6350" cy="92711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21600000">
            <a:off x="8331195" y="3098810"/>
            <a:ext cx="6350" cy="863559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 rot="21600000">
            <a:off x="5835578" y="3098810"/>
            <a:ext cx="6502" cy="812810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 rot="21600000">
            <a:off x="8121654" y="2082819"/>
            <a:ext cx="6350" cy="361919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21600000">
            <a:off x="9994834" y="3149559"/>
            <a:ext cx="6350" cy="34290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 rot="21600000">
            <a:off x="6870755" y="1485900"/>
            <a:ext cx="6350" cy="33659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 rot="21600000">
            <a:off x="6927820" y="7270739"/>
            <a:ext cx="317479" cy="635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 rot="21600000">
            <a:off x="6870755" y="4946629"/>
            <a:ext cx="6350" cy="311170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 rot="21600000">
            <a:off x="7086635" y="6724681"/>
            <a:ext cx="6350" cy="292059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 rot="21600000">
            <a:off x="8743934" y="4946629"/>
            <a:ext cx="6350" cy="28575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 rot="21600000">
            <a:off x="7080294" y="4953030"/>
            <a:ext cx="6350" cy="273039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21600000">
            <a:off x="6248476" y="4972050"/>
            <a:ext cx="6350" cy="266730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rot="21600000">
            <a:off x="7505715" y="2184410"/>
            <a:ext cx="6350" cy="260329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 rot="21600000">
            <a:off x="6458016" y="4965740"/>
            <a:ext cx="6350" cy="253929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 rot="21600000">
            <a:off x="7289835" y="4965740"/>
            <a:ext cx="6350" cy="253929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 rot="21600000">
            <a:off x="8445480" y="1238259"/>
            <a:ext cx="254081" cy="6350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 rot="21600000">
            <a:off x="6661216" y="4959339"/>
            <a:ext cx="6350" cy="247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256000" cy="9144000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2736840" y="6420744"/>
            <a:ext cx="11846559" cy="2358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36565" algn="l" rtl="0" eaLnBrk="0">
              <a:lnSpc>
                <a:spcPct val="82000"/>
              </a:lnSpc>
              <a:tabLst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</a:t>
            </a:r>
            <a:endParaRPr sz="2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159"/>
              </a:spcBef>
              <a:tabLst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vs</a:t>
            </a:r>
            <a:r>
              <a:rPr sz="2400" b="1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Intent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Refrigerator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7"/>
              </a:spcBef>
              <a:tabLst/>
            </a:pPr>
            <a:r>
              <a:rPr sz="5300" b="1" kern="0" spc="-2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 products should appear</a:t>
            </a:r>
            <a:r>
              <a:rPr sz="5300" b="1" kern="0" spc="-22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first?</a:t>
            </a:r>
            <a:endParaRPr sz="5300" dirty="0">
              <a:latin typeface="Arial"/>
              <a:ea typeface="Arial"/>
              <a:cs typeface="Arial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1525321" y="1307175"/>
            <a:ext cx="4124959" cy="2099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6000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24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8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kg</a:t>
            </a: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</a:t>
            </a:r>
            <a:r>
              <a:rPr sz="24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7000"/>
              </a:lnSpc>
              <a:spcBef>
                <a:spcPts val="3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 9kg</a:t>
            </a: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1525321" y="3923365"/>
            <a:ext cx="3203575" cy="2096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6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5000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LG 8kg</a:t>
            </a: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 Automa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tic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spcBef>
                <a:spcPts val="6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7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kg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1250878" y="3815374"/>
            <a:ext cx="4460240" cy="1221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19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24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</a:t>
            </a:r>
            <a:r>
              <a:rPr sz="24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4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24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55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around</a:t>
            </a:r>
            <a:r>
              <a:rPr sz="24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kg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41"/>
              </a:lnSpc>
              <a:tabLst/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good efficiency.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8991661" y="3673475"/>
            <a:ext cx="2280285" cy="218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2000"/>
              </a:lnSpc>
              <a:tabLst/>
            </a:pP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</a:t>
            </a:r>
            <a:endParaRPr sz="2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71"/>
              </a:spcBef>
              <a:tabLst/>
            </a:pPr>
            <a:r>
              <a:rPr sz="27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terminology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81000"/>
              </a:lnSpc>
              <a:spcBef>
                <a:spcPts val="821"/>
              </a:spcBef>
              <a:tabLst/>
            </a:pPr>
            <a:r>
              <a:rPr sz="27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Partial</a:t>
            </a:r>
            <a:endParaRPr sz="2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320"/>
              </a:spcBef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match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2300" kern="0" spc="-10" baseline="1585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</a:t>
            </a:r>
            <a:endParaRPr sz="2300" baseline="15852" dirty="0">
              <a:latin typeface="SimHei"/>
              <a:ea typeface="SimHei"/>
              <a:cs typeface="Sim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8064581" y="1880519"/>
            <a:ext cx="1019810" cy="706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7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Partial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match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5132040" y="8870909"/>
            <a:ext cx="101663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Gemini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 err="1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oteboo</a:t>
            </a:r>
            <a:r>
              <a:rPr sz="1000" kern="0" spc="-20" dirty="0" err="1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256000" cy="9144000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7213579" y="4390867"/>
            <a:ext cx="4796154" cy="3447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7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Retrieval           Ranking</a:t>
            </a:r>
            <a:endParaRPr sz="3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43914" algn="l" rtl="0" eaLnBrk="0">
              <a:lnSpc>
                <a:spcPct val="81000"/>
              </a:lnSpc>
              <a:spcBef>
                <a:spcPts val="967"/>
              </a:spcBef>
              <a:tabLst/>
            </a:pPr>
            <a:r>
              <a:rPr sz="3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1.Lexical</a:t>
            </a:r>
            <a:r>
              <a:rPr sz="3200" kern="0" spc="6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earch</a:t>
            </a:r>
            <a:endParaRPr sz="3200" dirty="0">
              <a:latin typeface="Arial"/>
              <a:ea typeface="Arial"/>
              <a:cs typeface="Arial"/>
            </a:endParaRPr>
          </a:p>
          <a:p>
            <a:pPr marL="843914" algn="l" rtl="0" eaLnBrk="0">
              <a:lnSpc>
                <a:spcPct val="73000"/>
              </a:lnSpc>
              <a:spcBef>
                <a:spcPts val="624"/>
              </a:spcBef>
              <a:tabLst/>
            </a:pP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2.Semantic</a:t>
            </a:r>
            <a:r>
              <a:rPr sz="3200" kern="0" spc="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3200" dirty="0">
              <a:latin typeface="Arial"/>
              <a:ea typeface="Arial"/>
              <a:cs typeface="Arial"/>
            </a:endParaRPr>
          </a:p>
          <a:p>
            <a:pPr marL="843914" algn="l" rtl="0" eaLnBrk="0">
              <a:lnSpc>
                <a:spcPts val="4361"/>
              </a:lnSpc>
              <a:tabLst/>
            </a:pP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3.Hybrid</a:t>
            </a:r>
            <a:r>
              <a:rPr sz="3200" kern="0" spc="5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1397020" y="1171981"/>
            <a:ext cx="9023350" cy="689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6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5300" b="1" kern="0" spc="-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 Architecture </a:t>
            </a:r>
            <a:r>
              <a:rPr sz="5300" b="1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Overvie</a:t>
            </a:r>
            <a:r>
              <a:rPr sz="5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5300" dirty="0">
              <a:latin typeface="Arial"/>
              <a:ea typeface="Arial"/>
              <a:cs typeface="Arial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3651239" y="4156933"/>
            <a:ext cx="2300604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9115" algn="l" rtl="0" eaLnBrk="0">
              <a:lnSpc>
                <a:spcPct val="81000"/>
              </a:lnSpc>
              <a:tabLst/>
            </a:pP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endParaRPr sz="3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spcBef>
                <a:spcPts val="340"/>
              </a:spcBef>
              <a:tabLst/>
            </a:pP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Processing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13347782" y="4161399"/>
            <a:ext cx="1771014" cy="931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3"/>
              </a:lnSpc>
              <a:tabLst/>
            </a:pP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</a:t>
            </a: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evan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3500" dirty="0">
              <a:latin typeface="Arial"/>
              <a:ea typeface="Arial"/>
              <a:cs typeface="Arial"/>
            </a:endParaRPr>
          </a:p>
          <a:p>
            <a:pPr marL="126364" algn="l" rtl="0" eaLnBrk="0">
              <a:lnSpc>
                <a:spcPts val="4548"/>
              </a:lnSpc>
              <a:tabLst/>
            </a:pP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1085880" y="4155089"/>
            <a:ext cx="1181735" cy="925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ts val="2583"/>
              </a:lnSpc>
              <a:tabLst/>
            </a:pP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endParaRPr sz="3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5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Query</a:t>
            </a:r>
            <a:endParaRPr sz="32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256000" cy="9144000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863660" y="1178899"/>
            <a:ext cx="13975714" cy="7626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4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Baseline:Lexica</a:t>
            </a:r>
            <a:r>
              <a:rPr sz="4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4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4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63265" algn="l" rtl="0" eaLnBrk="0">
              <a:lnSpc>
                <a:spcPts val="4157"/>
              </a:lnSpc>
              <a:spcBef>
                <a:spcPts val="906"/>
              </a:spcBef>
              <a:tabLst/>
            </a:pP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Input:</a:t>
            </a:r>
            <a:r>
              <a:rPr sz="3000" b="1" kern="0" spc="6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 automatic wash</a:t>
            </a:r>
            <a:r>
              <a:rPr sz="3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 8kg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4665" algn="l" rtl="0" eaLnBrk="0">
              <a:lnSpc>
                <a:spcPct val="83000"/>
              </a:lnSpc>
              <a:spcBef>
                <a:spcPts val="909"/>
              </a:spcBef>
              <a:tabLst/>
            </a:pP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sz="30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1(</a:t>
            </a: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Tokenization</a:t>
            </a:r>
            <a:r>
              <a:rPr sz="3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):</a:t>
            </a:r>
            <a:r>
              <a:rPr sz="3000" b="1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][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][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washer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][8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kg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6364" algn="l" rtl="0" eaLnBrk="0">
              <a:lnSpc>
                <a:spcPts val="4157"/>
              </a:lnSpc>
              <a:spcBef>
                <a:spcPts val="901"/>
              </a:spcBef>
              <a:tabLst/>
            </a:pP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</a:t>
            </a:r>
            <a:r>
              <a:rPr sz="3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2(</a:t>
            </a: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Normalisation</a:t>
            </a:r>
            <a:r>
              <a:rPr sz="3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):   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lowercase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stemming</a:t>
            </a: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applied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6364" algn="l" rtl="0" eaLnBrk="0">
              <a:lnSpc>
                <a:spcPts val="4157"/>
              </a:lnSpc>
              <a:spcBef>
                <a:spcPts val="903"/>
              </a:spcBef>
              <a:tabLst/>
            </a:pPr>
            <a:r>
              <a:rPr sz="3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Step 3(Term</a:t>
            </a:r>
            <a:r>
              <a:rPr sz="30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Matching):</a:t>
            </a:r>
            <a:r>
              <a:rPr sz="3000" b="1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8kg</a:t>
            </a:r>
            <a:r>
              <a:rPr sz="3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</a:t>
            </a:r>
            <a:r>
              <a:rPr sz="30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 Washing</a:t>
            </a:r>
            <a:r>
              <a:rPr sz="3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6364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30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Lexical search strictly matches the actual terms</a:t>
            </a:r>
            <a:r>
              <a:rPr sz="30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 query with</a:t>
            </a:r>
            <a:r>
              <a:rPr sz="3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terms</a:t>
            </a:r>
            <a:r>
              <a:rPr sz="30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documents</a:t>
            </a:r>
            <a:r>
              <a:rPr sz="3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3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256000" cy="9144000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825459" y="1006185"/>
            <a:ext cx="8874759" cy="1508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tabLst/>
            </a:pPr>
            <a:r>
              <a:rPr sz="6200" b="1" kern="0" spc="-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Bypassing </a:t>
            </a:r>
            <a:r>
              <a:rPr sz="6200" b="1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62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200" b="1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 Scan:</a:t>
            </a:r>
            <a:endParaRPr sz="6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799"/>
              </a:lnSpc>
              <a:tabLst/>
            </a:pP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44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Invert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r>
              <a:rPr sz="44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Index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977940" y="7839872"/>
            <a:ext cx="13693775" cy="973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31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search engine</a:t>
            </a:r>
            <a:r>
              <a:rPr sz="31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efficiently retrieves candidate documents</a:t>
            </a:r>
            <a:r>
              <a:rPr sz="31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3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  looking  up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pre-indexed terms,bypassin</a:t>
            </a:r>
            <a:r>
              <a:rPr sz="31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 a complete catalogue scan.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10363179" y="3321438"/>
            <a:ext cx="2368550" cy="424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3100" b="1" kern="0" spc="-90" dirty="0">
                <a:solidFill>
                  <a:srgbClr val="206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3100" b="1" kern="0" spc="280" dirty="0">
                <a:solidFill>
                  <a:srgbClr val="206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b="1" kern="0" spc="-90" dirty="0">
                <a:solidFill>
                  <a:srgbClr val="206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3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0550" algn="l" rtl="0" eaLnBrk="0">
              <a:lnSpc>
                <a:spcPct val="81000"/>
              </a:lnSpc>
              <a:spcBef>
                <a:spcPts val="694"/>
              </a:spcBef>
              <a:tabLst/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      2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96000"/>
              </a:lnSpc>
              <a:spcBef>
                <a:spcPts val="2079"/>
              </a:spcBef>
              <a:tabLst/>
            </a:pPr>
            <a:r>
              <a:rPr sz="3100" kern="0" spc="-100" dirty="0">
                <a:solidFill>
                  <a:srgbClr val="000000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▶</a:t>
            </a:r>
            <a:r>
              <a:rPr sz="3100" kern="0" spc="250" dirty="0">
                <a:solidFill>
                  <a:srgbClr val="000000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31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3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225"/>
              </a:lnSpc>
              <a:spcBef>
                <a:spcPts val="937"/>
              </a:spcBef>
              <a:tabLst/>
            </a:pP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  Product</a:t>
            </a:r>
            <a:r>
              <a:rPr sz="3100" kern="0" spc="6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3100" dirty="0">
              <a:latin typeface="Arial"/>
              <a:ea typeface="Arial"/>
              <a:cs typeface="Arial"/>
            </a:endParaRPr>
          </a:p>
          <a:p>
            <a:pPr marL="590550" indent="-488950" algn="l" rtl="0" eaLnBrk="0">
              <a:lnSpc>
                <a:spcPct val="168000"/>
              </a:lnSpc>
              <a:spcBef>
                <a:spcPts val="8"/>
              </a:spcBef>
              <a:tabLst/>
            </a:pPr>
            <a:r>
              <a:rPr sz="31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3100" kern="0" spc="-6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31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1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3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1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3473399" y="3477442"/>
            <a:ext cx="1670685" cy="3520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ts val="4225"/>
              </a:lnSpc>
              <a:tabLst/>
            </a:pPr>
            <a:r>
              <a:rPr sz="3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endParaRPr sz="3100" dirty="0">
              <a:latin typeface="Arial"/>
              <a:ea typeface="Arial"/>
              <a:cs typeface="Arial"/>
            </a:endParaRPr>
          </a:p>
          <a:p>
            <a:pPr marL="12700" indent="127000" algn="l" rtl="0" eaLnBrk="0">
              <a:lnSpc>
                <a:spcPct val="208000"/>
              </a:lnSpc>
              <a:spcBef>
                <a:spcPts val="81"/>
              </a:spcBef>
              <a:tabLst>
                <a:tab pos="977900" algn="l"/>
              </a:tabLst>
            </a:pPr>
            <a:r>
              <a:rPr sz="3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r>
              <a:rPr sz="3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Samsung</a:t>
            </a:r>
            <a:r>
              <a:rPr sz="31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8kg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-20" y="7035009"/>
            <a:ext cx="1360805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>
                <a:tab pos="1347469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15138381" y="8870909"/>
            <a:ext cx="999489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27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98520" y="2241560"/>
            <a:ext cx="8566099" cy="5911870"/>
          </a:xfrm>
          <a:prstGeom prst="rect">
            <a:avLst/>
          </a:prstGeom>
        </p:spPr>
      </p:pic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698520" y="2241560"/>
          <a:ext cx="10709910" cy="5911850"/>
        </p:xfrm>
        <a:graphic>
          <a:graphicData uri="http://schemas.openxmlformats.org/drawingml/2006/table">
            <a:tbl>
              <a:tblPr/>
              <a:tblGrid>
                <a:gridCol w="884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1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0615" algn="l" rtl="0" eaLnBrk="0">
                        <a:lnSpc>
                          <a:spcPts val="217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9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Inverse</a:t>
                      </a:r>
                      <a:r>
                        <a:rPr sz="29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9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</a:t>
                      </a:r>
                      <a:r>
                        <a:rPr sz="2900" b="1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04765" algn="l" rtl="0" eaLnBrk="0">
                        <a:lnSpc>
                          <a:spcPts val="4000"/>
                        </a:lnSpc>
                        <a:tabLst/>
                      </a:pPr>
                      <a:r>
                        <a:rPr sz="2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Frequency(IDF)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64100" algn="l" rtl="0" eaLnBrk="0">
                        <a:lnSpc>
                          <a:spcPts val="2385"/>
                        </a:lnSpc>
                        <a:spcBef>
                          <a:spcPts val="635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Amplifies</a:t>
                      </a:r>
                      <a:r>
                        <a:rPr sz="1700" kern="0" spc="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rare/im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portant</a:t>
                      </a:r>
                      <a:r>
                        <a:rPr sz="17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words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2264" algn="l" rtl="0" eaLnBrk="0">
                        <a:lnSpc>
                          <a:spcPct val="82000"/>
                        </a:lnSpc>
                        <a:spcBef>
                          <a:spcPts val="872"/>
                        </a:spcBef>
                        <a:tabLst/>
                      </a:pPr>
                      <a:r>
                        <a:rPr sz="2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Document</a:t>
                      </a:r>
                      <a:r>
                        <a:rPr sz="29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Length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0464" algn="l" rtl="0" eaLnBrk="0">
                        <a:lnSpc>
                          <a:spcPts val="2385"/>
                        </a:lnSpc>
                        <a:spcBef>
                          <a:spcPts val="18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Normalises scores s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 long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documents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7064" algn="l" rtl="0" eaLnBrk="0">
                        <a:lnSpc>
                          <a:spcPct val="95000"/>
                        </a:lnSpc>
                        <a:spcBef>
                          <a:spcPts val="162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don't</a:t>
                      </a:r>
                      <a:r>
                        <a:rPr sz="17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automatically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225" algn="l" rtl="0" eaLnBrk="0">
                        <a:lnSpc>
                          <a:spcPct val="8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900" kern="0" spc="-20" dirty="0">
                          <a:solidFill>
                            <a:srgbClr val="20706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1.Product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873"/>
                        </a:spcBef>
                        <a:tabLst/>
                      </a:pPr>
                      <a:r>
                        <a:rPr sz="2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402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</a:t>
                      </a:r>
                      <a:r>
                        <a:rPr sz="2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  <a:endParaRPr sz="2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" name="textbox 206"/>
          <p:cNvSpPr/>
          <p:nvPr/>
        </p:nvSpPr>
        <p:spPr>
          <a:xfrm>
            <a:off x="11732606" y="4043403"/>
            <a:ext cx="3947159" cy="464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3000"/>
              </a:lnSpc>
              <a:tabLst/>
            </a:pPr>
            <a:r>
              <a:rPr sz="2900" kern="0" spc="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A→</a:t>
            </a:r>
            <a:r>
              <a:rPr sz="2900" kern="0" spc="-57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BM25</a:t>
            </a:r>
            <a:r>
              <a:rPr sz="2900" kern="0" spc="25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900" kern="0" spc="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Score:9.4</a:t>
            </a:r>
            <a:endParaRPr sz="2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660" algn="l" rtl="0" eaLnBrk="0">
              <a:lnSpc>
                <a:spcPct val="83000"/>
              </a:lnSpc>
              <a:spcBef>
                <a:spcPts val="874"/>
              </a:spcBef>
              <a:tabLst/>
            </a:pP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B→ BM25   Score:6.7</a:t>
            </a:r>
            <a:endParaRPr sz="2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871"/>
              </a:spcBef>
              <a:tabLst/>
            </a:pP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2900" kern="0" spc="-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2900" kern="0" spc="-5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BM25   S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core:2.1</a:t>
            </a:r>
            <a:endParaRPr sz="2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*Scores are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illustrative.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208" name="picture 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785600" y="0"/>
            <a:ext cx="4464060" cy="3930639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768400" y="955234"/>
            <a:ext cx="10677525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Resolving Ties:B</a:t>
            </a:r>
            <a:r>
              <a:rPr sz="4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M25</a:t>
            </a:r>
            <a:r>
              <a:rPr sz="4400" b="1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Relevance</a:t>
            </a:r>
            <a:r>
              <a:rPr sz="44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Ranking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238199" y="4153291"/>
            <a:ext cx="3429000" cy="823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0" indent="-488950" algn="l" rtl="0" eaLnBrk="0">
              <a:lnSpc>
                <a:spcPct val="115000"/>
              </a:lnSpc>
              <a:tabLst/>
            </a:pPr>
            <a:r>
              <a:rPr sz="29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29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Frequency(TF)</a:t>
            </a:r>
            <a:r>
              <a:rPr sz="2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often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 term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occ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54F5E-41A0-7E78-5721-1E8C7F69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221">
            <a:extLst>
              <a:ext uri="{FF2B5EF4-FFF2-40B4-BE49-F238E27FC236}">
                <a16:creationId xmlns:a16="http://schemas.microsoft.com/office/drawing/2014/main" id="{5D1D4658-32CD-4903-BDA6-7B54EEA4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6255996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4" name="Freeform: Shape 223">
            <a:extLst>
              <a:ext uri="{FF2B5EF4-FFF2-40B4-BE49-F238E27FC236}">
                <a16:creationId xmlns:a16="http://schemas.microsoft.com/office/drawing/2014/main" id="{7A29A97C-0C3C-4F06-9CA4-68DFD1CE4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7848" y="1310970"/>
            <a:ext cx="11068149" cy="7833030"/>
          </a:xfrm>
          <a:custGeom>
            <a:avLst/>
            <a:gdLst>
              <a:gd name="connsiteX0" fmla="*/ 3607511 w 8301112"/>
              <a:gd name="connsiteY0" fmla="*/ 0 h 5874772"/>
              <a:gd name="connsiteX1" fmla="*/ 8106431 w 8301112"/>
              <a:gd name="connsiteY1" fmla="*/ 0 h 5874772"/>
              <a:gd name="connsiteX2" fmla="*/ 8301112 w 8301112"/>
              <a:gd name="connsiteY2" fmla="*/ 0 h 5874772"/>
              <a:gd name="connsiteX3" fmla="*/ 8301112 w 8301112"/>
              <a:gd name="connsiteY3" fmla="*/ 5874772 h 5874772"/>
              <a:gd name="connsiteX4" fmla="*/ 27685 w 8301112"/>
              <a:gd name="connsiteY4" fmla="*/ 5874772 h 5874772"/>
              <a:gd name="connsiteX5" fmla="*/ 24376 w 8301112"/>
              <a:gd name="connsiteY5" fmla="*/ 5862584 h 5874772"/>
              <a:gd name="connsiteX6" fmla="*/ 97502 w 8301112"/>
              <a:gd name="connsiteY6" fmla="*/ 5167850 h 5874772"/>
              <a:gd name="connsiteX7" fmla="*/ 2827510 w 8301112"/>
              <a:gd name="connsiteY7" fmla="*/ 438782 h 5874772"/>
              <a:gd name="connsiteX8" fmla="*/ 3607511 w 8301112"/>
              <a:gd name="connsiteY8" fmla="*/ 0 h 58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01112" h="5874772">
                <a:moveTo>
                  <a:pt x="3607511" y="0"/>
                </a:moveTo>
                <a:cubicBezTo>
                  <a:pt x="3607511" y="0"/>
                  <a:pt x="3607511" y="0"/>
                  <a:pt x="8106431" y="0"/>
                </a:cubicBezTo>
                <a:lnTo>
                  <a:pt x="8301112" y="0"/>
                </a:lnTo>
                <a:lnTo>
                  <a:pt x="8301112" y="5874772"/>
                </a:lnTo>
                <a:lnTo>
                  <a:pt x="27685" y="5874772"/>
                </a:lnTo>
                <a:lnTo>
                  <a:pt x="24376" y="5862584"/>
                </a:lnTo>
                <a:cubicBezTo>
                  <a:pt x="-24375" y="5631005"/>
                  <a:pt x="0" y="5362863"/>
                  <a:pt x="97502" y="5167850"/>
                </a:cubicBezTo>
                <a:cubicBezTo>
                  <a:pt x="97502" y="5167850"/>
                  <a:pt x="97502" y="5167850"/>
                  <a:pt x="2827510" y="438782"/>
                </a:cubicBezTo>
                <a:cubicBezTo>
                  <a:pt x="2973760" y="195014"/>
                  <a:pt x="3331265" y="0"/>
                  <a:pt x="360751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801292C1-8B12-4AF2-9B59-8851A132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0" y="480030"/>
            <a:ext cx="7123741" cy="5937558"/>
          </a:xfrm>
          <a:custGeom>
            <a:avLst/>
            <a:gdLst>
              <a:gd name="connsiteX0" fmla="*/ 313737 w 5342806"/>
              <a:gd name="connsiteY0" fmla="*/ 2699726 h 4453168"/>
              <a:gd name="connsiteX1" fmla="*/ 775980 w 5342806"/>
              <a:gd name="connsiteY1" fmla="*/ 2699726 h 4453168"/>
              <a:gd name="connsiteX2" fmla="*/ 846865 w 5342806"/>
              <a:gd name="connsiteY2" fmla="*/ 2741502 h 4453168"/>
              <a:gd name="connsiteX3" fmla="*/ 1078485 w 5342806"/>
              <a:gd name="connsiteY3" fmla="*/ 3140369 h 4453168"/>
              <a:gd name="connsiteX4" fmla="*/ 1078485 w 5342806"/>
              <a:gd name="connsiteY4" fmla="*/ 3221933 h 4453168"/>
              <a:gd name="connsiteX5" fmla="*/ 846865 w 5342806"/>
              <a:gd name="connsiteY5" fmla="*/ 3620799 h 4453168"/>
              <a:gd name="connsiteX6" fmla="*/ 775980 w 5342806"/>
              <a:gd name="connsiteY6" fmla="*/ 3662576 h 4453168"/>
              <a:gd name="connsiteX7" fmla="*/ 313737 w 5342806"/>
              <a:gd name="connsiteY7" fmla="*/ 3662576 h 4453168"/>
              <a:gd name="connsiteX8" fmla="*/ 241855 w 5342806"/>
              <a:gd name="connsiteY8" fmla="*/ 3620799 h 4453168"/>
              <a:gd name="connsiteX9" fmla="*/ 11232 w 5342806"/>
              <a:gd name="connsiteY9" fmla="*/ 3221933 h 4453168"/>
              <a:gd name="connsiteX10" fmla="*/ 11232 w 5342806"/>
              <a:gd name="connsiteY10" fmla="*/ 3140369 h 4453168"/>
              <a:gd name="connsiteX11" fmla="*/ 241855 w 5342806"/>
              <a:gd name="connsiteY11" fmla="*/ 2741502 h 4453168"/>
              <a:gd name="connsiteX12" fmla="*/ 313737 w 5342806"/>
              <a:gd name="connsiteY12" fmla="*/ 2699726 h 4453168"/>
              <a:gd name="connsiteX13" fmla="*/ 2150770 w 5342806"/>
              <a:gd name="connsiteY13" fmla="*/ 492430 h 4453168"/>
              <a:gd name="connsiteX14" fmla="*/ 2388454 w 5342806"/>
              <a:gd name="connsiteY14" fmla="*/ 492430 h 4453168"/>
              <a:gd name="connsiteX15" fmla="*/ 2416181 w 5342806"/>
              <a:gd name="connsiteY15" fmla="*/ 492430 h 4453168"/>
              <a:gd name="connsiteX16" fmla="*/ 2442639 w 5342806"/>
              <a:gd name="connsiteY16" fmla="*/ 537992 h 4453168"/>
              <a:gd name="connsiteX17" fmla="*/ 2572233 w 5342806"/>
              <a:gd name="connsiteY17" fmla="*/ 761161 h 4453168"/>
              <a:gd name="connsiteX18" fmla="*/ 2572233 w 5342806"/>
              <a:gd name="connsiteY18" fmla="*/ 886078 h 4453168"/>
              <a:gd name="connsiteX19" fmla="*/ 2217501 w 5342806"/>
              <a:gd name="connsiteY19" fmla="*/ 1496950 h 4453168"/>
              <a:gd name="connsiteX20" fmla="*/ 2108941 w 5342806"/>
              <a:gd name="connsiteY20" fmla="*/ 1560931 h 4453168"/>
              <a:gd name="connsiteX21" fmla="*/ 1401007 w 5342806"/>
              <a:gd name="connsiteY21" fmla="*/ 1560931 h 4453168"/>
              <a:gd name="connsiteX22" fmla="*/ 1367679 w 5342806"/>
              <a:gd name="connsiteY22" fmla="*/ 1556504 h 4453168"/>
              <a:gd name="connsiteX23" fmla="*/ 1344756 w 5342806"/>
              <a:gd name="connsiteY23" fmla="*/ 1546893 h 4453168"/>
              <a:gd name="connsiteX24" fmla="*/ 1358765 w 5342806"/>
              <a:gd name="connsiteY24" fmla="*/ 1522665 h 4453168"/>
              <a:gd name="connsiteX25" fmla="*/ 1855078 w 5342806"/>
              <a:gd name="connsiteY25" fmla="*/ 664281 h 4453168"/>
              <a:gd name="connsiteX26" fmla="*/ 2150770 w 5342806"/>
              <a:gd name="connsiteY26" fmla="*/ 492430 h 4453168"/>
              <a:gd name="connsiteX27" fmla="*/ 1359084 w 5342806"/>
              <a:gd name="connsiteY27" fmla="*/ 0 h 4453168"/>
              <a:gd name="connsiteX28" fmla="*/ 2157630 w 5342806"/>
              <a:gd name="connsiteY28" fmla="*/ 0 h 4453168"/>
              <a:gd name="connsiteX29" fmla="*/ 2280085 w 5342806"/>
              <a:gd name="connsiteY29" fmla="*/ 72172 h 4453168"/>
              <a:gd name="connsiteX30" fmla="*/ 2494708 w 5342806"/>
              <a:gd name="connsiteY30" fmla="*/ 441767 h 4453168"/>
              <a:gd name="connsiteX31" fmla="*/ 2518954 w 5342806"/>
              <a:gd name="connsiteY31" fmla="*/ 483519 h 4453168"/>
              <a:gd name="connsiteX32" fmla="*/ 2499877 w 5342806"/>
              <a:gd name="connsiteY32" fmla="*/ 483519 h 4453168"/>
              <a:gd name="connsiteX33" fmla="*/ 2409708 w 5342806"/>
              <a:gd name="connsiteY33" fmla="*/ 483519 h 4453168"/>
              <a:gd name="connsiteX34" fmla="*/ 2370537 w 5342806"/>
              <a:gd name="connsiteY34" fmla="*/ 416064 h 4453168"/>
              <a:gd name="connsiteX35" fmla="*/ 2220885 w 5342806"/>
              <a:gd name="connsiteY35" fmla="*/ 158353 h 4453168"/>
              <a:gd name="connsiteX36" fmla="*/ 2112324 w 5342806"/>
              <a:gd name="connsiteY36" fmla="*/ 94371 h 4453168"/>
              <a:gd name="connsiteX37" fmla="*/ 1404390 w 5342806"/>
              <a:gd name="connsiteY37" fmla="*/ 94371 h 4453168"/>
              <a:gd name="connsiteX38" fmla="*/ 1294301 w 5342806"/>
              <a:gd name="connsiteY38" fmla="*/ 158353 h 4453168"/>
              <a:gd name="connsiteX39" fmla="*/ 941098 w 5342806"/>
              <a:gd name="connsiteY39" fmla="*/ 769224 h 4453168"/>
              <a:gd name="connsiteX40" fmla="*/ 941098 w 5342806"/>
              <a:gd name="connsiteY40" fmla="*/ 894141 h 4453168"/>
              <a:gd name="connsiteX41" fmla="*/ 1294301 w 5342806"/>
              <a:gd name="connsiteY41" fmla="*/ 1505013 h 4453168"/>
              <a:gd name="connsiteX42" fmla="*/ 1340745 w 5342806"/>
              <a:gd name="connsiteY42" fmla="*/ 1551856 h 4453168"/>
              <a:gd name="connsiteX43" fmla="*/ 1346119 w 5342806"/>
              <a:gd name="connsiteY43" fmla="*/ 1554109 h 4453168"/>
              <a:gd name="connsiteX44" fmla="*/ 1317310 w 5342806"/>
              <a:gd name="connsiteY44" fmla="*/ 1603934 h 4453168"/>
              <a:gd name="connsiteX45" fmla="*/ 1295884 w 5342806"/>
              <a:gd name="connsiteY45" fmla="*/ 1640991 h 4453168"/>
              <a:gd name="connsiteX46" fmla="*/ 1318107 w 5342806"/>
              <a:gd name="connsiteY46" fmla="*/ 1650309 h 4453168"/>
              <a:gd name="connsiteX47" fmla="*/ 1355700 w 5342806"/>
              <a:gd name="connsiteY47" fmla="*/ 1655302 h 4453168"/>
              <a:gd name="connsiteX48" fmla="*/ 2154247 w 5342806"/>
              <a:gd name="connsiteY48" fmla="*/ 1655302 h 4453168"/>
              <a:gd name="connsiteX49" fmla="*/ 2276701 w 5342806"/>
              <a:gd name="connsiteY49" fmla="*/ 1583132 h 4453168"/>
              <a:gd name="connsiteX50" fmla="*/ 2676837 w 5342806"/>
              <a:gd name="connsiteY50" fmla="*/ 894072 h 4453168"/>
              <a:gd name="connsiteX51" fmla="*/ 2676837 w 5342806"/>
              <a:gd name="connsiteY51" fmla="*/ 753167 h 4453168"/>
              <a:gd name="connsiteX52" fmla="*/ 2544761 w 5342806"/>
              <a:gd name="connsiteY52" fmla="*/ 525724 h 4453168"/>
              <a:gd name="connsiteX53" fmla="*/ 2525427 w 5342806"/>
              <a:gd name="connsiteY53" fmla="*/ 492430 h 4453168"/>
              <a:gd name="connsiteX54" fmla="*/ 2614995 w 5342806"/>
              <a:gd name="connsiteY54" fmla="*/ 492430 h 4453168"/>
              <a:gd name="connsiteX55" fmla="*/ 4052233 w 5342806"/>
              <a:gd name="connsiteY55" fmla="*/ 492430 h 4453168"/>
              <a:gd name="connsiteX56" fmla="*/ 4343819 w 5342806"/>
              <a:gd name="connsiteY56" fmla="*/ 664281 h 4453168"/>
              <a:gd name="connsiteX57" fmla="*/ 5296604 w 5342806"/>
              <a:gd name="connsiteY57" fmla="*/ 2305041 h 4453168"/>
              <a:gd name="connsiteX58" fmla="*/ 5296604 w 5342806"/>
              <a:gd name="connsiteY58" fmla="*/ 2640558 h 4453168"/>
              <a:gd name="connsiteX59" fmla="*/ 4343819 w 5342806"/>
              <a:gd name="connsiteY59" fmla="*/ 4281318 h 4453168"/>
              <a:gd name="connsiteX60" fmla="*/ 4052233 w 5342806"/>
              <a:gd name="connsiteY60" fmla="*/ 4453168 h 4453168"/>
              <a:gd name="connsiteX61" fmla="*/ 2150770 w 5342806"/>
              <a:gd name="connsiteY61" fmla="*/ 4453168 h 4453168"/>
              <a:gd name="connsiteX62" fmla="*/ 1855078 w 5342806"/>
              <a:gd name="connsiteY62" fmla="*/ 4281318 h 4453168"/>
              <a:gd name="connsiteX63" fmla="*/ 906399 w 5342806"/>
              <a:gd name="connsiteY63" fmla="*/ 2640558 h 4453168"/>
              <a:gd name="connsiteX64" fmla="*/ 906399 w 5342806"/>
              <a:gd name="connsiteY64" fmla="*/ 2305041 h 4453168"/>
              <a:gd name="connsiteX65" fmla="*/ 1258651 w 5342806"/>
              <a:gd name="connsiteY65" fmla="*/ 1695815 h 4453168"/>
              <a:gd name="connsiteX66" fmla="*/ 1288338 w 5342806"/>
              <a:gd name="connsiteY66" fmla="*/ 1644472 h 4453168"/>
              <a:gd name="connsiteX67" fmla="*/ 1287293 w 5342806"/>
              <a:gd name="connsiteY67" fmla="*/ 1644034 h 4453168"/>
              <a:gd name="connsiteX68" fmla="*/ 1234904 w 5342806"/>
              <a:gd name="connsiteY68" fmla="*/ 1591195 h 4453168"/>
              <a:gd name="connsiteX69" fmla="*/ 836494 w 5342806"/>
              <a:gd name="connsiteY69" fmla="*/ 902135 h 4453168"/>
              <a:gd name="connsiteX70" fmla="*/ 836494 w 5342806"/>
              <a:gd name="connsiteY70" fmla="*/ 761230 h 4453168"/>
              <a:gd name="connsiteX71" fmla="*/ 1234904 w 5342806"/>
              <a:gd name="connsiteY71" fmla="*/ 72172 h 4453168"/>
              <a:gd name="connsiteX72" fmla="*/ 1359084 w 5342806"/>
              <a:gd name="connsiteY72" fmla="*/ 0 h 445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42806" h="4453168">
                <a:moveTo>
                  <a:pt x="313737" y="2699726"/>
                </a:moveTo>
                <a:cubicBezTo>
                  <a:pt x="313737" y="2699726"/>
                  <a:pt x="313737" y="2699726"/>
                  <a:pt x="775980" y="2699726"/>
                </a:cubicBezTo>
                <a:cubicBezTo>
                  <a:pt x="804933" y="2699726"/>
                  <a:pt x="832887" y="2715641"/>
                  <a:pt x="846865" y="2741502"/>
                </a:cubicBezTo>
                <a:cubicBezTo>
                  <a:pt x="846865" y="2741502"/>
                  <a:pt x="846865" y="2741502"/>
                  <a:pt x="1078485" y="3140369"/>
                </a:cubicBezTo>
                <a:cubicBezTo>
                  <a:pt x="1093461" y="3165236"/>
                  <a:pt x="1093461" y="3197066"/>
                  <a:pt x="1078485" y="3221933"/>
                </a:cubicBezTo>
                <a:cubicBezTo>
                  <a:pt x="1078485" y="3221933"/>
                  <a:pt x="1078485" y="3221933"/>
                  <a:pt x="846865" y="3620799"/>
                </a:cubicBezTo>
                <a:cubicBezTo>
                  <a:pt x="832887" y="3646661"/>
                  <a:pt x="804933" y="3662576"/>
                  <a:pt x="775980" y="3662576"/>
                </a:cubicBezTo>
                <a:cubicBezTo>
                  <a:pt x="775980" y="3662576"/>
                  <a:pt x="775980" y="3662576"/>
                  <a:pt x="313737" y="3662576"/>
                </a:cubicBezTo>
                <a:cubicBezTo>
                  <a:pt x="283786" y="3662576"/>
                  <a:pt x="256830" y="3646661"/>
                  <a:pt x="241855" y="3620799"/>
                </a:cubicBezTo>
                <a:cubicBezTo>
                  <a:pt x="241855" y="3620799"/>
                  <a:pt x="241855" y="3620799"/>
                  <a:pt x="11232" y="3221933"/>
                </a:cubicBezTo>
                <a:cubicBezTo>
                  <a:pt x="-3743" y="3197066"/>
                  <a:pt x="-3743" y="3165236"/>
                  <a:pt x="11232" y="3140369"/>
                </a:cubicBezTo>
                <a:cubicBezTo>
                  <a:pt x="11232" y="3140369"/>
                  <a:pt x="11232" y="3140369"/>
                  <a:pt x="241855" y="2741502"/>
                </a:cubicBezTo>
                <a:cubicBezTo>
                  <a:pt x="256830" y="2715641"/>
                  <a:pt x="283786" y="2699726"/>
                  <a:pt x="313737" y="2699726"/>
                </a:cubicBezTo>
                <a:close/>
                <a:moveTo>
                  <a:pt x="2150770" y="492430"/>
                </a:moveTo>
                <a:cubicBezTo>
                  <a:pt x="2150770" y="492430"/>
                  <a:pt x="2150770" y="492430"/>
                  <a:pt x="2388454" y="492430"/>
                </a:cubicBezTo>
                <a:lnTo>
                  <a:pt x="2416181" y="492430"/>
                </a:lnTo>
                <a:lnTo>
                  <a:pt x="2442639" y="537992"/>
                </a:lnTo>
                <a:cubicBezTo>
                  <a:pt x="2479480" y="601434"/>
                  <a:pt x="2522349" y="675258"/>
                  <a:pt x="2572233" y="761161"/>
                </a:cubicBezTo>
                <a:cubicBezTo>
                  <a:pt x="2595168" y="799246"/>
                  <a:pt x="2595168" y="847994"/>
                  <a:pt x="2572233" y="886078"/>
                </a:cubicBezTo>
                <a:cubicBezTo>
                  <a:pt x="2572233" y="886078"/>
                  <a:pt x="2572233" y="886078"/>
                  <a:pt x="2217501" y="1496950"/>
                </a:cubicBezTo>
                <a:cubicBezTo>
                  <a:pt x="2196094" y="1536558"/>
                  <a:pt x="2153283" y="1560931"/>
                  <a:pt x="2108941" y="1560931"/>
                </a:cubicBezTo>
                <a:cubicBezTo>
                  <a:pt x="2108941" y="1560931"/>
                  <a:pt x="2108941" y="1560931"/>
                  <a:pt x="1401007" y="1560931"/>
                </a:cubicBezTo>
                <a:cubicBezTo>
                  <a:pt x="1389539" y="1560931"/>
                  <a:pt x="1378359" y="1559408"/>
                  <a:pt x="1367679" y="1556504"/>
                </a:cubicBezTo>
                <a:lnTo>
                  <a:pt x="1344756" y="1546893"/>
                </a:lnTo>
                <a:lnTo>
                  <a:pt x="1358765" y="1522665"/>
                </a:lnTo>
                <a:cubicBezTo>
                  <a:pt x="1485427" y="1303600"/>
                  <a:pt x="1647555" y="1023197"/>
                  <a:pt x="1855078" y="664281"/>
                </a:cubicBezTo>
                <a:cubicBezTo>
                  <a:pt x="1916680" y="557897"/>
                  <a:pt x="2027565" y="492430"/>
                  <a:pt x="2150770" y="492430"/>
                </a:cubicBezTo>
                <a:close/>
                <a:moveTo>
                  <a:pt x="1359084" y="0"/>
                </a:moveTo>
                <a:cubicBezTo>
                  <a:pt x="1359084" y="0"/>
                  <a:pt x="1359084" y="0"/>
                  <a:pt x="2157630" y="0"/>
                </a:cubicBezTo>
                <a:cubicBezTo>
                  <a:pt x="2207647" y="0"/>
                  <a:pt x="2255938" y="27495"/>
                  <a:pt x="2280085" y="72172"/>
                </a:cubicBezTo>
                <a:cubicBezTo>
                  <a:pt x="2280085" y="72172"/>
                  <a:pt x="2280085" y="72172"/>
                  <a:pt x="2494708" y="441767"/>
                </a:cubicBezTo>
                <a:lnTo>
                  <a:pt x="2518954" y="483519"/>
                </a:lnTo>
                <a:lnTo>
                  <a:pt x="2499877" y="483519"/>
                </a:lnTo>
                <a:lnTo>
                  <a:pt x="2409708" y="483519"/>
                </a:lnTo>
                <a:lnTo>
                  <a:pt x="2370537" y="416064"/>
                </a:lnTo>
                <a:cubicBezTo>
                  <a:pt x="2220885" y="158353"/>
                  <a:pt x="2220885" y="158353"/>
                  <a:pt x="2220885" y="158353"/>
                </a:cubicBezTo>
                <a:cubicBezTo>
                  <a:pt x="2199478" y="118745"/>
                  <a:pt x="2156666" y="94371"/>
                  <a:pt x="2112324" y="94371"/>
                </a:cubicBezTo>
                <a:cubicBezTo>
                  <a:pt x="1404390" y="94371"/>
                  <a:pt x="1404390" y="94371"/>
                  <a:pt x="1404390" y="94371"/>
                </a:cubicBezTo>
                <a:cubicBezTo>
                  <a:pt x="1358520" y="94371"/>
                  <a:pt x="1317236" y="118745"/>
                  <a:pt x="1294301" y="158353"/>
                </a:cubicBezTo>
                <a:cubicBezTo>
                  <a:pt x="941098" y="769224"/>
                  <a:pt x="941098" y="769224"/>
                  <a:pt x="941098" y="769224"/>
                </a:cubicBezTo>
                <a:cubicBezTo>
                  <a:pt x="918163" y="807309"/>
                  <a:pt x="918163" y="856057"/>
                  <a:pt x="941098" y="894141"/>
                </a:cubicBezTo>
                <a:cubicBezTo>
                  <a:pt x="1294301" y="1505013"/>
                  <a:pt x="1294301" y="1505013"/>
                  <a:pt x="1294301" y="1505013"/>
                </a:cubicBezTo>
                <a:cubicBezTo>
                  <a:pt x="1305769" y="1524817"/>
                  <a:pt x="1321823" y="1540812"/>
                  <a:pt x="1340745" y="1551856"/>
                </a:cubicBezTo>
                <a:lnTo>
                  <a:pt x="1346119" y="1554109"/>
                </a:lnTo>
                <a:lnTo>
                  <a:pt x="1317310" y="1603934"/>
                </a:lnTo>
                <a:lnTo>
                  <a:pt x="1295884" y="1640991"/>
                </a:lnTo>
                <a:lnTo>
                  <a:pt x="1318107" y="1650309"/>
                </a:lnTo>
                <a:cubicBezTo>
                  <a:pt x="1330154" y="1653584"/>
                  <a:pt x="1342766" y="1655302"/>
                  <a:pt x="1355700" y="1655302"/>
                </a:cubicBezTo>
                <a:cubicBezTo>
                  <a:pt x="2154247" y="1655302"/>
                  <a:pt x="2154247" y="1655302"/>
                  <a:pt x="2154247" y="1655302"/>
                </a:cubicBezTo>
                <a:cubicBezTo>
                  <a:pt x="2204264" y="1655302"/>
                  <a:pt x="2252555" y="1627810"/>
                  <a:pt x="2276701" y="1583132"/>
                </a:cubicBezTo>
                <a:cubicBezTo>
                  <a:pt x="2676837" y="894072"/>
                  <a:pt x="2676837" y="894072"/>
                  <a:pt x="2676837" y="894072"/>
                </a:cubicBezTo>
                <a:cubicBezTo>
                  <a:pt x="2702708" y="851114"/>
                  <a:pt x="2702708" y="796127"/>
                  <a:pt x="2676837" y="753167"/>
                </a:cubicBezTo>
                <a:cubicBezTo>
                  <a:pt x="2626820" y="667035"/>
                  <a:pt x="2583056" y="591669"/>
                  <a:pt x="2544761" y="525724"/>
                </a:cubicBezTo>
                <a:lnTo>
                  <a:pt x="2525427" y="492430"/>
                </a:lnTo>
                <a:lnTo>
                  <a:pt x="2614995" y="492430"/>
                </a:lnTo>
                <a:cubicBezTo>
                  <a:pt x="2893530" y="492430"/>
                  <a:pt x="3339185" y="492430"/>
                  <a:pt x="4052233" y="492430"/>
                </a:cubicBezTo>
                <a:cubicBezTo>
                  <a:pt x="4171332" y="492430"/>
                  <a:pt x="4286323" y="557897"/>
                  <a:pt x="4343819" y="664281"/>
                </a:cubicBezTo>
                <a:cubicBezTo>
                  <a:pt x="4343819" y="664281"/>
                  <a:pt x="4343819" y="664281"/>
                  <a:pt x="5296604" y="2305041"/>
                </a:cubicBezTo>
                <a:cubicBezTo>
                  <a:pt x="5358207" y="2407332"/>
                  <a:pt x="5358207" y="2538266"/>
                  <a:pt x="5296604" y="2640558"/>
                </a:cubicBezTo>
                <a:cubicBezTo>
                  <a:pt x="5296604" y="2640558"/>
                  <a:pt x="5296604" y="2640558"/>
                  <a:pt x="4343819" y="4281318"/>
                </a:cubicBezTo>
                <a:cubicBezTo>
                  <a:pt x="4286323" y="4387702"/>
                  <a:pt x="4171332" y="4453168"/>
                  <a:pt x="4052233" y="4453168"/>
                </a:cubicBezTo>
                <a:cubicBezTo>
                  <a:pt x="4052233" y="4453168"/>
                  <a:pt x="4052233" y="4453168"/>
                  <a:pt x="2150770" y="4453168"/>
                </a:cubicBezTo>
                <a:cubicBezTo>
                  <a:pt x="2027565" y="4453168"/>
                  <a:pt x="1916680" y="4387702"/>
                  <a:pt x="1855078" y="4281318"/>
                </a:cubicBezTo>
                <a:cubicBezTo>
                  <a:pt x="1855078" y="4281318"/>
                  <a:pt x="1855078" y="4281318"/>
                  <a:pt x="906399" y="2640558"/>
                </a:cubicBezTo>
                <a:cubicBezTo>
                  <a:pt x="844796" y="2538266"/>
                  <a:pt x="844796" y="2407332"/>
                  <a:pt x="906399" y="2305041"/>
                </a:cubicBezTo>
                <a:cubicBezTo>
                  <a:pt x="906399" y="2305041"/>
                  <a:pt x="906399" y="2305041"/>
                  <a:pt x="1258651" y="1695815"/>
                </a:cubicBezTo>
                <a:lnTo>
                  <a:pt x="1288338" y="1644472"/>
                </a:lnTo>
                <a:lnTo>
                  <a:pt x="1287293" y="1644034"/>
                </a:lnTo>
                <a:cubicBezTo>
                  <a:pt x="1265949" y="1631576"/>
                  <a:pt x="1247840" y="1613534"/>
                  <a:pt x="1234904" y="1591195"/>
                </a:cubicBezTo>
                <a:cubicBezTo>
                  <a:pt x="1234904" y="1591195"/>
                  <a:pt x="1234904" y="1591195"/>
                  <a:pt x="836494" y="902135"/>
                </a:cubicBezTo>
                <a:cubicBezTo>
                  <a:pt x="810622" y="859177"/>
                  <a:pt x="810622" y="804190"/>
                  <a:pt x="836494" y="761230"/>
                </a:cubicBezTo>
                <a:cubicBezTo>
                  <a:pt x="836494" y="761230"/>
                  <a:pt x="836494" y="761230"/>
                  <a:pt x="1234904" y="72172"/>
                </a:cubicBezTo>
                <a:cubicBezTo>
                  <a:pt x="1260775" y="27495"/>
                  <a:pt x="1307343" y="0"/>
                  <a:pt x="135908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8" name="picture 208">
            <a:extLst>
              <a:ext uri="{FF2B5EF4-FFF2-40B4-BE49-F238E27FC236}">
                <a16:creationId xmlns:a16="http://schemas.microsoft.com/office/drawing/2014/main" id="{5A356C71-1014-77A4-0178-CA6F5E97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55901" y="2362540"/>
            <a:ext cx="3374669" cy="29697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3D68CD-61EA-6D99-D983-EAE388B8C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92" y="480030"/>
            <a:ext cx="12294556" cy="777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6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16"/>
          <p:cNvSpPr/>
          <p:nvPr/>
        </p:nvSpPr>
        <p:spPr>
          <a:xfrm>
            <a:off x="870000" y="5773238"/>
            <a:ext cx="15271750" cy="3226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30165" algn="l" rtl="0" eaLnBrk="0">
              <a:lnSpc>
                <a:spcPct val="92000"/>
              </a:lnSpc>
              <a:tabLst/>
            </a:pPr>
            <a:r>
              <a:rPr sz="3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Vocabulary mismatch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447675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Lack</a:t>
            </a:r>
            <a:r>
              <a:rPr sz="34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of</a:t>
            </a:r>
            <a:r>
              <a:rPr sz="3400" kern="0" spc="4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synonym</a:t>
            </a:r>
            <a:r>
              <a:rPr sz="3400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awareness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4145915" algn="l" rtl="0" eaLnBrk="0">
              <a:lnSpc>
                <a:spcPct val="92000"/>
              </a:lnSpc>
              <a:spcBef>
                <a:spcPts val="182"/>
              </a:spcBef>
              <a:tabLst/>
            </a:pP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Poor</a:t>
            </a:r>
            <a:r>
              <a:rPr sz="3400" kern="0" spc="4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handling</a:t>
            </a:r>
            <a:r>
              <a:rPr sz="3400" kern="0" spc="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of</a:t>
            </a:r>
            <a:r>
              <a:rPr sz="34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paraphrases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4145915" algn="l" rtl="0" eaLnBrk="0">
              <a:lnSpc>
                <a:spcPct val="93000"/>
              </a:lnSpc>
              <a:spcBef>
                <a:spcPts val="17"/>
              </a:spcBef>
              <a:tabLst/>
            </a:pP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Zero</a:t>
            </a:r>
            <a:r>
              <a:rPr sz="34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understanding</a:t>
            </a:r>
            <a:r>
              <a:rPr sz="3400" kern="0" spc="3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of</a:t>
            </a:r>
            <a:r>
              <a:rPr sz="3400" kern="0" spc="5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intent</a:t>
            </a:r>
            <a:endParaRPr sz="3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001"/>
              </a:spcBef>
              <a:tabLst/>
            </a:pPr>
            <a:r>
              <a:rPr sz="33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Lexical Search</a:t>
            </a:r>
            <a:r>
              <a:rPr sz="33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strong at exact terminology,but</a:t>
            </a:r>
            <a:r>
              <a:rPr sz="33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blind to</a:t>
            </a:r>
            <a:r>
              <a:rPr sz="33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underlying meanin</a:t>
            </a:r>
            <a:r>
              <a:rPr sz="3300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a.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4274164" algn="l" rtl="0" eaLnBrk="0">
              <a:lnSpc>
                <a:spcPct val="85000"/>
              </a:lnSpc>
              <a:spcBef>
                <a:spcPts val="5"/>
              </a:spcBef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Gemini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Notebook</a:t>
            </a:r>
            <a:endParaRPr sz="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736390" y="560524"/>
            <a:ext cx="8941434" cy="1936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3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69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The</a:t>
            </a:r>
            <a:r>
              <a:rPr sz="6900" kern="0" spc="9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9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Lexica</a:t>
            </a:r>
            <a:r>
              <a:rPr sz="69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</a:t>
            </a:r>
            <a:r>
              <a:rPr sz="6900" kern="0" spc="9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9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Ceiling:</a:t>
            </a:r>
            <a:r>
              <a:rPr sz="6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Vocabulary</a:t>
            </a:r>
            <a:r>
              <a:rPr sz="6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Mismatch</a:t>
            </a:r>
            <a:endParaRPr sz="6900" dirty="0">
              <a:latin typeface="SimSun"/>
              <a:ea typeface="SimSun"/>
              <a:cs typeface="SimSun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028659" y="3264449"/>
            <a:ext cx="4553584" cy="157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40914" algn="l" rtl="0" eaLnBrk="0">
              <a:lnSpc>
                <a:spcPct val="79000"/>
              </a:lnSpc>
              <a:tabLst/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Synonyms</a:t>
            </a:r>
            <a:endParaRPr sz="3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289"/>
              </a:lnSpc>
              <a:spcBef>
                <a:spcPts val="6"/>
              </a:spcBef>
              <a:tabLst/>
            </a:pPr>
            <a:r>
              <a:rPr sz="3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washer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endParaRPr sz="3400" dirty="0">
              <a:latin typeface="SimSun"/>
              <a:ea typeface="SimSun"/>
              <a:cs typeface="SimSun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75981" y="3797320"/>
            <a:ext cx="2990941" cy="888979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47380" y="3829050"/>
            <a:ext cx="2927380" cy="901689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8013700" y="4100359"/>
            <a:ext cx="2475229" cy="915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vehicle</a:t>
            </a:r>
            <a:r>
              <a:rPr sz="3400" kern="0" spc="4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for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city</a:t>
            </a:r>
            <a:r>
              <a:rPr sz="3400" kern="0" spc="7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travel</a:t>
            </a:r>
            <a:endParaRPr sz="3400" dirty="0">
              <a:latin typeface="SimSun"/>
              <a:ea typeface="SimSun"/>
              <a:cs typeface="SimSun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3938198" y="3897179"/>
            <a:ext cx="1752600" cy="1282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7000"/>
              </a:lnSpc>
              <a:tabLst/>
            </a:pP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urban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4270"/>
              </a:lnSpc>
              <a:tabLst/>
            </a:pPr>
            <a:r>
              <a:rPr sz="3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commuter</a:t>
            </a:r>
            <a:endParaRPr sz="3400" dirty="0">
              <a:latin typeface="SimSun"/>
              <a:ea typeface="SimSun"/>
              <a:cs typeface="SimSun"/>
            </a:endParaRPr>
          </a:p>
          <a:p>
            <a:pPr marL="664209" algn="l" rtl="0" eaLnBrk="0">
              <a:lnSpc>
                <a:spcPts val="1679"/>
              </a:lnSpc>
              <a:tabLst/>
            </a:pP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car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6026078" y="4042523"/>
            <a:ext cx="1557655" cy="1091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4000"/>
              </a:lnSpc>
              <a:tabLst/>
            </a:pPr>
            <a:r>
              <a:rPr sz="3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washing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machine</a:t>
            </a:r>
            <a:endParaRPr sz="3400" dirty="0">
              <a:latin typeface="SimSun"/>
              <a:ea typeface="SimSun"/>
              <a:cs typeface="SimSun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10756825" y="3229847"/>
            <a:ext cx="2644775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Paraphrasing</a:t>
            </a:r>
            <a:endParaRPr sz="3400" dirty="0">
              <a:latin typeface="SimSun"/>
              <a:ea typeface="SimSun"/>
              <a:cs typeface="SimSun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38881" y="3797320"/>
            <a:ext cx="247578" cy="888979"/>
          </a:xfrm>
          <a:prstGeom prst="rect">
            <a:avLst/>
          </a:prstGeom>
        </p:spPr>
      </p:pic>
      <p:sp>
        <p:nvSpPr>
          <p:cNvPr id="236" name="path 236"/>
          <p:cNvSpPr/>
          <p:nvPr/>
        </p:nvSpPr>
        <p:spPr>
          <a:xfrm>
            <a:off x="31699" y="2657454"/>
            <a:ext cx="16110021" cy="6350"/>
          </a:xfrm>
          <a:custGeom>
            <a:avLst/>
            <a:gdLst/>
            <a:ahLst/>
            <a:cxnLst/>
            <a:rect l="0" t="0" r="0" b="0"/>
            <a:pathLst>
              <a:path w="25370" h="10">
                <a:moveTo>
                  <a:pt x="0" y="5"/>
                </a:moveTo>
                <a:lnTo>
                  <a:pt x="25370" y="5"/>
                </a:lnTo>
                <a:moveTo>
                  <a:pt x="0" y="5"/>
                </a:moveTo>
                <a:lnTo>
                  <a:pt x="4360" y="5"/>
                </a:lnTo>
                <a:moveTo>
                  <a:pt x="4360" y="5"/>
                </a:moveTo>
                <a:lnTo>
                  <a:pt x="8780" y="5"/>
                </a:lnTo>
                <a:moveTo>
                  <a:pt x="8780" y="5"/>
                </a:moveTo>
                <a:lnTo>
                  <a:pt x="12570" y="5"/>
                </a:lnTo>
                <a:moveTo>
                  <a:pt x="12570" y="5"/>
                </a:moveTo>
                <a:lnTo>
                  <a:pt x="16499" y="5"/>
                </a:lnTo>
                <a:moveTo>
                  <a:pt x="16499" y="5"/>
                </a:moveTo>
                <a:lnTo>
                  <a:pt x="21230" y="5"/>
                </a:lnTo>
                <a:moveTo>
                  <a:pt x="21230" y="5"/>
                </a:moveTo>
                <a:lnTo>
                  <a:pt x="2537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path 238"/>
          <p:cNvSpPr/>
          <p:nvPr/>
        </p:nvSpPr>
        <p:spPr>
          <a:xfrm>
            <a:off x="8010545" y="2660629"/>
            <a:ext cx="6350" cy="2743200"/>
          </a:xfrm>
          <a:custGeom>
            <a:avLst/>
            <a:gdLst/>
            <a:ahLst/>
            <a:cxnLst/>
            <a:rect l="0" t="0" r="0" b="0"/>
            <a:pathLst>
              <a:path w="10" h="4320">
                <a:moveTo>
                  <a:pt x="5" y="0"/>
                </a:moveTo>
                <a:lnTo>
                  <a:pt x="5" y="4320"/>
                </a:lnTo>
                <a:moveTo>
                  <a:pt x="5" y="0"/>
                </a:moveTo>
                <a:lnTo>
                  <a:pt x="5" y="4320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824710" y="1224354"/>
            <a:ext cx="941503" cy="781804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823838" y="857956"/>
            <a:ext cx="560410" cy="7558558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51182" y="857956"/>
            <a:ext cx="14578004" cy="71892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3FA1F-0B33-5704-8E12-D8AEE8B94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634" y="1224354"/>
            <a:ext cx="11048442" cy="5966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79" y="0"/>
            <a:ext cx="16236979" cy="9144000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1028659" y="3048985"/>
            <a:ext cx="4811395" cy="395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8500" algn="l" rtl="0" eaLnBrk="0">
              <a:lnSpc>
                <a:spcPct val="82000"/>
              </a:lnSpc>
              <a:tabLst/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3200" kern="0" spc="8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endParaRPr sz="3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08200" algn="l" rtl="0" eaLnBrk="0">
              <a:lnSpc>
                <a:spcPts val="6219"/>
              </a:lnSpc>
              <a:spcBef>
                <a:spcPts val="1478"/>
              </a:spcBef>
              <a:tabLst/>
            </a:pPr>
            <a:r>
              <a:rPr sz="4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↓</a:t>
            </a:r>
            <a:endParaRPr sz="4900" dirty="0">
              <a:latin typeface="SimHei"/>
              <a:ea typeface="SimHei"/>
              <a:cs typeface="SimHei"/>
            </a:endParaRPr>
          </a:p>
          <a:p>
            <a:pPr marL="666750" algn="l" rtl="0" eaLnBrk="0">
              <a:lnSpc>
                <a:spcPct val="82000"/>
              </a:lnSpc>
              <a:spcBef>
                <a:spcPts val="1379"/>
              </a:spcBef>
              <a:tabLst/>
            </a:pP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Embedding</a:t>
            </a:r>
            <a:r>
              <a:rPr sz="32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endParaRPr sz="3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0900" algn="l" rtl="0" eaLnBrk="0">
              <a:lnSpc>
                <a:spcPts val="6219"/>
              </a:lnSpc>
              <a:spcBef>
                <a:spcPts val="1479"/>
              </a:spcBef>
              <a:tabLst/>
            </a:pPr>
            <a:r>
              <a:rPr sz="4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↓</a:t>
            </a:r>
            <a:endParaRPr sz="4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4213"/>
              </a:lnSpc>
              <a:spcBef>
                <a:spcPts val="688"/>
              </a:spcBef>
              <a:tabLst/>
            </a:pP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[0.21,-0.43,0.87,0.12,…]</a:t>
            </a:r>
            <a:endParaRPr sz="3300" dirty="0">
              <a:latin typeface="SimHei"/>
              <a:ea typeface="SimHei"/>
              <a:cs typeface="SimHe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7943798" y="6705600"/>
            <a:ext cx="8211184" cy="1108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Refrigerato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9836160" y="2848091"/>
            <a:ext cx="5454650" cy="1923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69464" algn="l" rtl="0" eaLnBrk="0">
              <a:lnSpc>
                <a:spcPct val="82000"/>
              </a:lnSpc>
              <a:tabLst/>
            </a:pP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Washing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702"/>
              </a:spcBef>
              <a:tabLst/>
            </a:pPr>
            <a:r>
              <a:rPr sz="2300" kern="0" spc="0" dirty="0">
                <a:solidFill>
                  <a:srgbClr val="3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Cosine  Similarity</a:t>
            </a:r>
            <a:r>
              <a:rPr sz="2300" kern="0" spc="110" dirty="0">
                <a:solidFill>
                  <a:srgbClr val="3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endParaRPr sz="2300" dirty="0">
              <a:latin typeface="Arial"/>
              <a:ea typeface="Arial"/>
              <a:cs typeface="Arial"/>
            </a:endParaRPr>
          </a:p>
          <a:p>
            <a:pPr marL="412750" algn="l" rtl="0" eaLnBrk="0">
              <a:lnSpc>
                <a:spcPct val="82000"/>
              </a:lnSpc>
              <a:spcBef>
                <a:spcPts val="294"/>
              </a:spcBef>
              <a:tabLst/>
            </a:pPr>
            <a:r>
              <a:rPr sz="2300" kern="0" spc="-2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Dot</a:t>
            </a:r>
            <a:r>
              <a:rPr sz="2300" kern="0" spc="24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-20" dirty="0">
                <a:solidFill>
                  <a:srgbClr val="207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endParaRPr sz="2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85"/>
              </a:spcBef>
              <a:tabLst/>
            </a:pP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Washer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673140" y="820090"/>
            <a:ext cx="10188575" cy="640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7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900" b="1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Mapping</a:t>
            </a:r>
            <a:r>
              <a:rPr sz="49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900" b="1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</a:t>
            </a:r>
            <a:r>
              <a:rPr sz="49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900" b="1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into Vecto</a:t>
            </a:r>
            <a:r>
              <a:rPr sz="4900" b="1" kern="0" spc="-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 Space</a:t>
            </a:r>
            <a:endParaRPr sz="4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8AD5C-35BA-58A9-D801-0B609414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01541" y="-338226"/>
            <a:ext cx="2436850" cy="1835984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188854" y="562861"/>
            <a:ext cx="860491" cy="86049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91309" y="873520"/>
            <a:ext cx="916629" cy="9166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475524" y="0"/>
            <a:ext cx="3780476" cy="197444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35125" y="8154001"/>
            <a:ext cx="1992684" cy="989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74363-2B2F-5C8F-7378-15A6C6A94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837" y="857956"/>
            <a:ext cx="13692325" cy="7428086"/>
          </a:xfrm>
          <a:prstGeom prst="rect">
            <a:avLst/>
          </a:prstGeom>
          <a:ln>
            <a:noFill/>
          </a:ln>
        </p:spPr>
      </p:pic>
      <p:sp>
        <p:nvSpPr>
          <p:cNvPr id="32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138773" y="8604190"/>
            <a:ext cx="1086537" cy="53981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0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F056-A843-2ABA-10DE-9C3F7BF1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08BA1-BEDE-2D1D-F1D5-FE87B5B8C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394" y="508505"/>
            <a:ext cx="11611212" cy="774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3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 30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9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4DB01-0B90-487E-4059-4A6C7CEA4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49" y="1009649"/>
            <a:ext cx="14625189" cy="74929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table 320"/>
          <p:cNvGraphicFramePr>
            <a:graphicFrameLocks noGrp="1"/>
          </p:cNvGraphicFramePr>
          <p:nvPr/>
        </p:nvGraphicFramePr>
        <p:xfrm>
          <a:off x="815964" y="3451245"/>
          <a:ext cx="15405100" cy="4609465"/>
        </p:xfrm>
        <a:graphic>
          <a:graphicData uri="http://schemas.openxmlformats.org/drawingml/2006/table">
            <a:tbl>
              <a:tblPr/>
              <a:tblGrid>
                <a:gridCol w="517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92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ts val="329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Lexical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Semantic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ts val="3291"/>
                        </a:lnSpc>
                        <a:tabLst/>
                      </a:pPr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Exact</a:t>
                      </a:r>
                      <a:r>
                        <a:rPr sz="2600" kern="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terms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600" b="1" kern="0" spc="-20" dirty="0">
                          <a:solidFill>
                            <a:srgbClr val="206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Strong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3291"/>
                        </a:lnSpc>
                        <a:tabLst/>
                      </a:pPr>
                      <a:r>
                        <a:rPr sz="2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Moderate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Exact</a:t>
                      </a:r>
                      <a:r>
                        <a:rPr sz="26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model</a:t>
                      </a:r>
                      <a:r>
                        <a:rPr sz="26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SKU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600" b="1" kern="0" spc="-20" dirty="0">
                          <a:solidFill>
                            <a:srgbClr val="206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Strong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3291"/>
                        </a:lnSpc>
                        <a:tabLst/>
                      </a:pPr>
                      <a:r>
                        <a:rPr sz="2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Weaker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Meaning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3291"/>
                        </a:lnSpc>
                        <a:tabLst/>
                      </a:pPr>
                      <a:r>
                        <a:rPr sz="2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Limited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600" b="1" kern="0" spc="-20" dirty="0">
                          <a:solidFill>
                            <a:srgbClr val="2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Strong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01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Synonyms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2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Configurable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94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600" b="1" kern="0" spc="-20" dirty="0">
                          <a:solidFill>
                            <a:srgbClr val="206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Strong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Paraphras</a:t>
                      </a:r>
                      <a:r>
                        <a:rPr sz="2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es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317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Weak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945" algn="l" rtl="0" eaLnBrk="0">
                        <a:lnSpc>
                          <a:spcPct val="8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600" b="1" kern="0" spc="-20" dirty="0">
                          <a:solidFill>
                            <a:srgbClr val="206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Strong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ts val="329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Intent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3291"/>
                        </a:lnSpc>
                        <a:tabLst/>
                      </a:pPr>
                      <a:r>
                        <a:rPr sz="2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Limited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94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600" b="1" kern="0" spc="-20" dirty="0">
                          <a:solidFill>
                            <a:srgbClr val="2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Strong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 rot="21600000">
            <a:off x="768421" y="292059"/>
            <a:ext cx="15481239" cy="2838480"/>
            <a:chOff x="0" y="0"/>
            <a:chExt cx="15481239" cy="2838480"/>
          </a:xfrm>
        </p:grpSpPr>
        <p:sp>
          <p:nvSpPr>
            <p:cNvPr id="322" name="rect 322"/>
            <p:cNvSpPr/>
            <p:nvPr/>
          </p:nvSpPr>
          <p:spPr>
            <a:xfrm>
              <a:off x="50718" y="1841510"/>
              <a:ext cx="14744679" cy="996970"/>
            </a:xfrm>
            <a:prstGeom prst="rect">
              <a:avLst/>
            </a:prstGeom>
            <a:solidFill>
              <a:srgbClr val="F4F8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4" name="textbox 324"/>
            <p:cNvSpPr/>
            <p:nvPr/>
          </p:nvSpPr>
          <p:spPr>
            <a:xfrm>
              <a:off x="-12700" y="-12700"/>
              <a:ext cx="15506700" cy="27787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5300" b="1" kern="0" spc="-1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</a:t>
              </a:r>
              <a:r>
                <a:rPr sz="5300" b="1" kern="0" spc="3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300" b="1" kern="0" spc="-1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New</a:t>
              </a:r>
              <a:r>
                <a:rPr sz="5300" b="1" kern="0" spc="2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300" b="1" kern="0" spc="-1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Friction:Semantic</a:t>
              </a:r>
              <a:r>
                <a:rPr sz="5300" b="1" kern="0" spc="2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300" b="1" kern="0" spc="-1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Blindspots</a:t>
              </a:r>
              <a:r>
                <a:rPr sz="53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</a:t>
              </a:r>
              <a:endParaRPr sz="53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063615" indent="-5854065" algn="l" rtl="0" eaLnBrk="0">
                <a:lnSpc>
                  <a:spcPct val="103000"/>
                </a:lnSpc>
                <a:spcBef>
                  <a:spcPts val="4"/>
                </a:spcBef>
                <a:tabLst/>
              </a:pPr>
              <a:r>
                <a:rPr sz="2600" b="1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 Query:</a:t>
              </a:r>
              <a:r>
                <a:rPr sz="2600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iPhone</a:t>
              </a:r>
              <a:r>
                <a:rPr sz="2600" kern="0" spc="2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600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16</a:t>
              </a:r>
              <a:r>
                <a:rPr sz="2600" kern="0" spc="1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600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 256GB   →   </a:t>
              </a:r>
              <a:r>
                <a:rPr sz="2600" b="1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Semantic</a:t>
              </a:r>
              <a:r>
                <a:rPr sz="2600" b="1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600" b="1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</a:t>
              </a:r>
              <a:r>
                <a:rPr sz="2600" b="1" kern="0" spc="-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arch</a:t>
              </a:r>
              <a:r>
                <a:rPr sz="2600" b="1" kern="0" spc="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600" b="1" kern="0" spc="-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understands: </a:t>
              </a:r>
              <a:r>
                <a:rPr sz="2600" kern="0" spc="-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Premium Apple</a:t>
              </a:r>
              <a:r>
                <a:rPr sz="26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600" kern="0" spc="-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smartphone,</a:t>
              </a:r>
              <a:r>
                <a:rPr sz="2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</a:t>
              </a:r>
              <a:r>
                <a:rPr sz="2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missing exact SKU,storage,and model</a:t>
              </a:r>
              <a:r>
                <a:rPr sz="2600" kern="0" spc="1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preci</a:t>
              </a:r>
              <a:r>
                <a:rPr sz="26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sion.</a:t>
              </a:r>
              <a:endParaRPr sz="26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326" name="picture 3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2792290" y="0"/>
              <a:ext cx="2685981" cy="1860620"/>
            </a:xfrm>
            <a:prstGeom prst="rect">
              <a:avLst/>
            </a:prstGeom>
          </p:spPr>
        </p:pic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4808077" y="2038380"/>
              <a:ext cx="666821" cy="6401"/>
            </a:xfrm>
            <a:prstGeom prst="rect">
              <a:avLst/>
            </a:prstGeom>
          </p:spPr>
        </p:pic>
      </p:grpSp>
      <p:sp>
        <p:nvSpPr>
          <p:cNvPr id="330" name="textbox 330"/>
          <p:cNvSpPr/>
          <p:nvPr/>
        </p:nvSpPr>
        <p:spPr>
          <a:xfrm>
            <a:off x="863132" y="8121142"/>
            <a:ext cx="14569439" cy="476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Both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approaches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solv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</a:t>
            </a:r>
            <a:r>
              <a:rPr sz="3200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completely</a:t>
            </a:r>
            <a:r>
              <a:rPr sz="3200" kern="0" spc="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different</a:t>
            </a:r>
            <a:r>
              <a:rPr sz="3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parts</a:t>
            </a:r>
            <a:r>
              <a:rPr sz="3200" kern="0" spc="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of</a:t>
            </a:r>
            <a:r>
              <a:rPr sz="3200" kern="0" spc="3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the</a:t>
            </a:r>
            <a:r>
              <a:rPr sz="3200" kern="0" spc="3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search</a:t>
            </a:r>
            <a:r>
              <a:rPr sz="3200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problem.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11074380" y="582949"/>
            <a:ext cx="2705735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>
                <a:tab pos="269240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359" y="279440"/>
            <a:ext cx="12679" cy="88518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box 338"/>
          <p:cNvSpPr/>
          <p:nvPr/>
        </p:nvSpPr>
        <p:spPr>
          <a:xfrm>
            <a:off x="4864100" y="7192223"/>
            <a:ext cx="6531609" cy="1079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8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indent="-18415" algn="l" rtl="0" eaLnBrk="0">
              <a:lnSpc>
                <a:spcPct val="105000"/>
              </a:lnSpc>
              <a:tabLst/>
            </a:pPr>
            <a:r>
              <a:rPr sz="3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Combining exact keyword</a:t>
            </a:r>
            <a:r>
              <a:rPr sz="33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precision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with deep s</a:t>
            </a:r>
            <a:r>
              <a:rPr sz="3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emantic understanding.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58400" y="4324381"/>
            <a:ext cx="3410021" cy="1796978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55879" y="4324380"/>
            <a:ext cx="3416361" cy="1790669"/>
          </a:xfrm>
          <a:prstGeom prst="rect">
            <a:avLst/>
          </a:prstGeom>
        </p:spPr>
      </p:pic>
      <p:sp>
        <p:nvSpPr>
          <p:cNvPr id="344" name="textbox 344"/>
          <p:cNvSpPr/>
          <p:nvPr/>
        </p:nvSpPr>
        <p:spPr>
          <a:xfrm>
            <a:off x="749381" y="1026241"/>
            <a:ext cx="9092565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54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Synthes</a:t>
            </a:r>
            <a:r>
              <a:rPr sz="5400" b="1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is:Hybrid Search</a:t>
            </a:r>
            <a:endParaRPr sz="5400" dirty="0">
              <a:latin typeface="Arial"/>
              <a:ea typeface="Arial"/>
              <a:cs typeface="Arial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1028659" y="3096731"/>
            <a:ext cx="4074795" cy="144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2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Lexical Sear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</a:t>
            </a:r>
            <a:endParaRPr sz="3500" dirty="0">
              <a:latin typeface="Arial"/>
              <a:ea typeface="Arial"/>
              <a:cs typeface="Arial"/>
            </a:endParaRPr>
          </a:p>
          <a:p>
            <a:pPr marL="12700" indent="18415" algn="l" rtl="0" eaLnBrk="0">
              <a:lnSpc>
                <a:spcPct val="118000"/>
              </a:lnSpc>
              <a:spcBef>
                <a:spcPts val="374"/>
              </a:spcBef>
              <a:tabLst/>
            </a:pP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Excellent</a:t>
            </a:r>
            <a:r>
              <a:rPr sz="2600" kern="0" spc="6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exact</a:t>
            </a:r>
            <a:r>
              <a:rPr sz="2600" kern="0" spc="6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matching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limited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348" name="textbox 348"/>
          <p:cNvSpPr/>
          <p:nvPr/>
        </p:nvSpPr>
        <p:spPr>
          <a:xfrm>
            <a:off x="11830121" y="3120575"/>
            <a:ext cx="3712845" cy="1417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3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sz="3300" b="1" kern="0" spc="7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indent="691515" algn="l" rtl="0" eaLnBrk="0">
              <a:lnSpc>
                <a:spcPct val="115000"/>
              </a:lnSpc>
              <a:spcBef>
                <a:spcPts val="556"/>
              </a:spcBef>
              <a:tabLst/>
            </a:pP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Excellent</a:t>
            </a:r>
            <a:r>
              <a:rPr sz="2600" kern="0" spc="6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weaker</a:t>
            </a:r>
            <a:r>
              <a:rPr sz="2600" kern="0" spc="4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exact</a:t>
            </a:r>
            <a:r>
              <a:rPr sz="2600" kern="0" spc="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matching</a:t>
            </a:r>
            <a:r>
              <a:rPr sz="26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7467661" y="4542932"/>
            <a:ext cx="2286635" cy="1487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0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86000"/>
              </a:lnSpc>
              <a:tabLst/>
            </a:pPr>
            <a:r>
              <a:rPr sz="58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</a:t>
            </a:r>
            <a:r>
              <a:rPr sz="58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5400" dirty="0">
              <a:latin typeface="Arial"/>
              <a:ea typeface="Arial"/>
              <a:cs typeface="Arial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6318199" y="4777018"/>
            <a:ext cx="899794" cy="1108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7200" kern="0" spc="-330" dirty="0">
                <a:solidFill>
                  <a:srgbClr val="2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十</a:t>
            </a:r>
            <a:endParaRPr sz="7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picture 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256000" cy="9144000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5867420" y="5765011"/>
            <a:ext cx="10280015" cy="3240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5465" algn="l" rtl="0" eaLnBrk="0">
              <a:lnSpc>
                <a:spcPct val="83000"/>
              </a:lnSpc>
              <a:tabLst/>
            </a:pP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</a:t>
            </a:r>
            <a:r>
              <a:rPr sz="26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</a:t>
            </a:r>
            <a:r>
              <a:rPr sz="26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isation &amp;</a:t>
            </a:r>
            <a:endParaRPr sz="2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212"/>
              </a:spcBef>
              <a:tabLst/>
            </a:pP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Reciprocal</a:t>
            </a:r>
            <a:r>
              <a:rPr sz="26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</a:t>
            </a:r>
            <a:r>
              <a:rPr sz="26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Fusion(RRF)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25600" algn="l" rtl="0" eaLnBrk="0">
              <a:lnSpc>
                <a:spcPts val="2726"/>
              </a:lnSpc>
              <a:spcBef>
                <a:spcPts val="608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Re-ranking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00" algn="l" rtl="0" eaLnBrk="0">
              <a:lnSpc>
                <a:spcPct val="81000"/>
              </a:lnSpc>
              <a:spcBef>
                <a:spcPts val="607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spcBef>
                <a:spcPts val="2"/>
              </a:spcBef>
              <a:tabLst/>
            </a:pP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546181" y="599558"/>
            <a:ext cx="4699634" cy="1224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79"/>
              </a:lnSpc>
              <a:tabLst/>
            </a:pPr>
            <a:r>
              <a:rPr sz="4800" b="1" i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Parallel Retri</a:t>
            </a:r>
            <a:r>
              <a:rPr sz="4800" b="1" i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eva</a:t>
            </a:r>
            <a:r>
              <a:rPr sz="4800" b="1" i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4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862"/>
              </a:lnSpc>
              <a:tabLst/>
            </a:pPr>
            <a:r>
              <a:rPr sz="48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&amp;Score</a:t>
            </a:r>
            <a:r>
              <a:rPr sz="4800" b="1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Fusion</a:t>
            </a:r>
            <a:endParaRPr sz="4800" dirty="0">
              <a:latin typeface="Arial"/>
              <a:ea typeface="Arial"/>
              <a:cs typeface="Arial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9715540" y="3077210"/>
            <a:ext cx="3310890" cy="949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6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93314" indent="184150" algn="l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intent,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synonyms,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 Sco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4940340" y="3299500"/>
            <a:ext cx="3198495" cy="727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00579" indent="-18415" algn="l" rtl="0" eaLnBrk="0">
              <a:lnSpc>
                <a:spcPct val="97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exact</a:t>
            </a:r>
            <a:r>
              <a:rPr sz="15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words,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SKUs,specs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00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Lexical</a:t>
            </a:r>
            <a:r>
              <a:rPr sz="20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9645639" y="2362241"/>
            <a:ext cx="1979929" cy="541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1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Semantic</a:t>
            </a:r>
            <a:r>
              <a:rPr sz="2000" kern="0" spc="4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2000" dirty="0">
              <a:latin typeface="Arial"/>
              <a:ea typeface="Arial"/>
              <a:cs typeface="Arial"/>
            </a:endParaRPr>
          </a:p>
          <a:p>
            <a:pPr marL="520065" algn="l" rtl="0" eaLnBrk="0">
              <a:lnSpc>
                <a:spcPct val="81000"/>
              </a:lnSpc>
              <a:spcBef>
                <a:spcPts val="160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(Vector)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4876779" y="2362241"/>
            <a:ext cx="1694179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1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Lexical</a:t>
            </a:r>
            <a:r>
              <a:rPr sz="2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81000"/>
              </a:lnSpc>
              <a:spcBef>
                <a:spcPts val="59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(BM25)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7461320" y="711748"/>
            <a:ext cx="1330960" cy="274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 Query</a:t>
            </a:r>
            <a:endParaRPr sz="2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01541" y="-338226"/>
            <a:ext cx="2436850" cy="1835984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188854" y="562861"/>
            <a:ext cx="860491" cy="86049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91309" y="873520"/>
            <a:ext cx="916629" cy="9166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475524" y="0"/>
            <a:ext cx="3780476" cy="197444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35125" y="8154001"/>
            <a:ext cx="1992684" cy="989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C0368-0599-0B18-F0E2-643F1AD5F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139" y="857956"/>
            <a:ext cx="13755722" cy="742808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138773" y="8604190"/>
            <a:ext cx="1086537" cy="53981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picture 3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249660" cy="9144000"/>
          </a:xfrm>
          <a:prstGeom prst="rect">
            <a:avLst/>
          </a:prstGeom>
        </p:spPr>
      </p:pic>
      <p:sp>
        <p:nvSpPr>
          <p:cNvPr id="378" name="textbox 378"/>
          <p:cNvSpPr/>
          <p:nvPr/>
        </p:nvSpPr>
        <p:spPr>
          <a:xfrm>
            <a:off x="1054181" y="2387834"/>
            <a:ext cx="4749800" cy="5128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1665" indent="-22860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Run</a:t>
            </a:r>
            <a:r>
              <a:rPr sz="33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BM25,Semantic,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33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</a:t>
            </a:r>
            <a:r>
              <a:rPr sz="33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</a:t>
            </a:r>
            <a:r>
              <a:rPr sz="3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llel</a:t>
            </a:r>
            <a:endParaRPr sz="3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2000"/>
              </a:lnSpc>
              <a:spcBef>
                <a:spcPts val="845"/>
              </a:spcBef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Compare</a:t>
            </a:r>
            <a:r>
              <a:rPr sz="2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Metrics</a:t>
            </a:r>
            <a:endParaRPr sz="2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99415" indent="-386715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Determine Top</a:t>
            </a:r>
            <a:r>
              <a:rPr sz="33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</a:t>
            </a:r>
            <a:r>
              <a:rPr sz="3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rformer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against Ground Truth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11658619" y="2453757"/>
            <a:ext cx="3664584" cy="485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Recall@K</a:t>
            </a:r>
            <a:endParaRPr sz="3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849"/>
              </a:spcBef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8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2800" kern="0" spc="4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relevant</a:t>
            </a:r>
            <a:r>
              <a:rPr sz="2800" kern="0" spc="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results,</a:t>
            </a:r>
            <a:endParaRPr sz="2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24"/>
              </a:spcBef>
              <a:tabLst/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2800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many</a:t>
            </a:r>
            <a:r>
              <a:rPr sz="28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were</a:t>
            </a:r>
            <a:endParaRPr sz="2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85"/>
              </a:lnSpc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retrieved?</a:t>
            </a:r>
            <a:endParaRPr sz="2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993"/>
              </a:spcBef>
              <a:tabLst/>
            </a:pPr>
            <a:r>
              <a:rPr sz="3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NDCG@K</a:t>
            </a:r>
            <a:endParaRPr sz="3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816"/>
              </a:lnSpc>
              <a:spcBef>
                <a:spcPts val="846"/>
              </a:spcBef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well</a:t>
            </a: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28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highly</a:t>
            </a:r>
            <a:endParaRPr sz="2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2"/>
              </a:spcBef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relevant</a:t>
            </a:r>
            <a:r>
              <a:rPr sz="2800" kern="0" spc="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</a:t>
            </a:r>
            <a:r>
              <a:rPr sz="2800" kern="0" spc="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ranked</a:t>
            </a:r>
            <a:endParaRPr sz="2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12"/>
              </a:lnSpc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near</a:t>
            </a:r>
            <a:r>
              <a:rPr sz="28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8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top?</a:t>
            </a:r>
            <a:endParaRPr sz="2800" dirty="0">
              <a:latin typeface="Arial"/>
              <a:ea typeface="Arial"/>
              <a:cs typeface="Arial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7296158" y="2442364"/>
            <a:ext cx="3467734" cy="4976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Precision@K</a:t>
            </a:r>
            <a:endParaRPr sz="3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spcBef>
                <a:spcPts val="843"/>
              </a:spcBef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</a:t>
            </a: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</a:t>
            </a:r>
            <a:r>
              <a:rPr sz="28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28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results,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28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many</a:t>
            </a:r>
            <a:r>
              <a:rPr sz="28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endParaRPr sz="2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85"/>
              </a:lnSpc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relevant?</a:t>
            </a:r>
            <a:endParaRPr sz="2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994"/>
              </a:spcBef>
              <a:tabLst/>
            </a:pPr>
            <a:r>
              <a:rPr sz="3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MRR(Mean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863"/>
              </a:spcBef>
              <a:tabLst/>
            </a:pPr>
            <a:r>
              <a:rPr sz="3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Reciprocal</a:t>
            </a:r>
            <a:r>
              <a:rPr sz="33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Rank)</a:t>
            </a:r>
            <a:endParaRPr sz="3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8000"/>
              </a:lnSpc>
              <a:spcBef>
                <a:spcPts val="2"/>
              </a:spcBef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28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28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first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relevant</a:t>
            </a:r>
            <a:r>
              <a:rPr sz="2800" kern="0" spc="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result?</a:t>
            </a:r>
            <a:endParaRPr sz="2800" dirty="0">
              <a:latin typeface="Arial"/>
              <a:ea typeface="Arial"/>
              <a:cs typeface="Arial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2457399" y="8204555"/>
            <a:ext cx="13684885" cy="81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3900" b="1" kern="0" spc="-1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 do</a:t>
            </a:r>
            <a:r>
              <a:rPr sz="3900" b="1" kern="0" spc="2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 assume</a:t>
            </a:r>
            <a:r>
              <a:rPr sz="3900" b="1" kern="0" spc="23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Hybrid</a:t>
            </a:r>
            <a:r>
              <a:rPr sz="3900" b="1" kern="0" spc="22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3900" b="1" kern="0" spc="20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1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</a:t>
            </a:r>
            <a:r>
              <a:rPr sz="3900" b="1" kern="0" spc="-12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ter.We measure</a:t>
            </a:r>
            <a:r>
              <a:rPr sz="3900" b="1" kern="0" spc="22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20" dirty="0">
                <a:solidFill>
                  <a:srgbClr val="2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it.</a:t>
            </a:r>
            <a:endParaRPr sz="3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838138" y="892250"/>
            <a:ext cx="12610465" cy="683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53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Proving the</a:t>
            </a:r>
            <a:r>
              <a:rPr sz="5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Value:Search Quality</a:t>
            </a:r>
            <a:r>
              <a:rPr sz="53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Metrics</a:t>
            </a:r>
            <a:endParaRPr sz="5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599</Words>
  <Application>Microsoft Macintosh PowerPoint</Application>
  <PresentationFormat>Custom</PresentationFormat>
  <Paragraphs>406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Malgun Gothic</vt:lpstr>
      <vt:lpstr>SimHei</vt:lpstr>
      <vt:lpstr>SimSun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Harshavardhan L</cp:lastModifiedBy>
  <cp:revision>2</cp:revision>
  <dcterms:created xsi:type="dcterms:W3CDTF">2026-10-09T13:52:05Z</dcterms:created>
  <dcterms:modified xsi:type="dcterms:W3CDTF">2026-10-09T07:04:13Z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2026-10-09T13:52:11Z</vt:filetime>
  </property>
  <property fmtid="{D5CDD505-2E9C-101B-9397-08002B2CF9AE}" pid="4" name="UsrData">
    <vt:lpwstr>6ac881035b6f5c001fdf5600wl</vt:lpwstr>
  </property>
</Properties>
</file>